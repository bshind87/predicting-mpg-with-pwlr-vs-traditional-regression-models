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71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57114-0367-4F78-8461-B3DDD6349C52}" v="19" dt="2025-11-29T22:48:08.100"/>
    <p1510:client id="{F95A775B-4DCD-BC0B-BDC0-7DD3B1010C07}" v="97" dt="2025-11-30T23:04:25.596"/>
  </p1510:revLst>
</p1510:revInfo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4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992FA-8155-49AA-B48A-E17B0F0AA46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853B79C-9BBD-4E29-9107-11C80C95E9B5}">
      <dgm:prSet phldrT="[Text]" custT="1"/>
      <dgm:spPr/>
      <dgm:t>
        <a:bodyPr/>
        <a:lstStyle/>
        <a:p>
          <a:pPr>
            <a:buNone/>
          </a:pPr>
          <a:r>
            <a:rPr lang="en-IN" sz="1100" b="1" dirty="0"/>
            <a:t>Univariate Models:</a:t>
          </a:r>
          <a:endParaRPr lang="en-IN" sz="1100" dirty="0"/>
        </a:p>
      </dgm:t>
    </dgm:pt>
    <dgm:pt modelId="{328A7648-F1C3-4168-817A-068B135D8568}" type="parTrans" cxnId="{BC680EBB-530C-4E62-99F4-6A12DAF4BA4C}">
      <dgm:prSet/>
      <dgm:spPr/>
      <dgm:t>
        <a:bodyPr/>
        <a:lstStyle/>
        <a:p>
          <a:endParaRPr lang="en-IN" sz="1100"/>
        </a:p>
      </dgm:t>
    </dgm:pt>
    <dgm:pt modelId="{9974B7B8-597A-4210-8DC6-C6980FCDDDEB}" type="sibTrans" cxnId="{BC680EBB-530C-4E62-99F4-6A12DAF4BA4C}">
      <dgm:prSet/>
      <dgm:spPr/>
      <dgm:t>
        <a:bodyPr/>
        <a:lstStyle/>
        <a:p>
          <a:endParaRPr lang="en-IN" sz="1100"/>
        </a:p>
      </dgm:t>
    </dgm:pt>
    <dgm:pt modelId="{6F597B64-8F06-4CEE-96B8-1E2BE1A4F684}">
      <dgm:prSet custT="1"/>
      <dgm:spPr/>
      <dgm:t>
        <a:bodyPr/>
        <a:lstStyle/>
        <a:p>
          <a:r>
            <a:rPr lang="en-IN" sz="1100" dirty="0"/>
            <a:t>Linear Regression</a:t>
          </a:r>
        </a:p>
      </dgm:t>
    </dgm:pt>
    <dgm:pt modelId="{261CB999-9E38-4DA0-8D77-63724A0B76E9}" type="parTrans" cxnId="{9813C05D-9FC1-43F6-8F33-E4CAA546BB19}">
      <dgm:prSet/>
      <dgm:spPr/>
      <dgm:t>
        <a:bodyPr/>
        <a:lstStyle/>
        <a:p>
          <a:endParaRPr lang="en-IN" sz="1100"/>
        </a:p>
      </dgm:t>
    </dgm:pt>
    <dgm:pt modelId="{19B9997F-B51E-4A5E-BAAF-847645031DD6}" type="sibTrans" cxnId="{9813C05D-9FC1-43F6-8F33-E4CAA546BB19}">
      <dgm:prSet/>
      <dgm:spPr/>
      <dgm:t>
        <a:bodyPr/>
        <a:lstStyle/>
        <a:p>
          <a:endParaRPr lang="en-IN" sz="1100"/>
        </a:p>
      </dgm:t>
    </dgm:pt>
    <dgm:pt modelId="{7D1E0A7E-8E93-480D-9E34-11BFCCE979F0}">
      <dgm:prSet custT="1"/>
      <dgm:spPr/>
      <dgm:t>
        <a:bodyPr/>
        <a:lstStyle/>
        <a:p>
          <a:r>
            <a:rPr lang="en-IN" sz="1100" dirty="0"/>
            <a:t>Polynomial Regression (</a:t>
          </a:r>
          <a:r>
            <a:rPr lang="en-IN" sz="1100" dirty="0" err="1"/>
            <a:t>deg</a:t>
          </a:r>
          <a:r>
            <a:rPr lang="en-IN" sz="1100" dirty="0"/>
            <a:t>=2)</a:t>
          </a:r>
        </a:p>
      </dgm:t>
    </dgm:pt>
    <dgm:pt modelId="{5C806314-1E38-4F7D-B14D-8FDE95874FD8}" type="parTrans" cxnId="{723C52C5-726A-459D-A8A9-8ABA285D8AB2}">
      <dgm:prSet/>
      <dgm:spPr/>
      <dgm:t>
        <a:bodyPr/>
        <a:lstStyle/>
        <a:p>
          <a:endParaRPr lang="en-IN" sz="1100"/>
        </a:p>
      </dgm:t>
    </dgm:pt>
    <dgm:pt modelId="{41FCDD58-59E8-4F18-B6A4-A8E69585245B}" type="sibTrans" cxnId="{723C52C5-726A-459D-A8A9-8ABA285D8AB2}">
      <dgm:prSet/>
      <dgm:spPr/>
      <dgm:t>
        <a:bodyPr/>
        <a:lstStyle/>
        <a:p>
          <a:endParaRPr lang="en-IN" sz="1100"/>
        </a:p>
      </dgm:t>
    </dgm:pt>
    <dgm:pt modelId="{09E27635-EF2B-4CDC-8F0A-D4FB9376A890}">
      <dgm:prSet custT="1"/>
      <dgm:spPr/>
      <dgm:t>
        <a:bodyPr/>
        <a:lstStyle/>
        <a:p>
          <a:r>
            <a:rPr lang="en-IN" sz="1100" dirty="0"/>
            <a:t>Piecewise Linear Regression (PWLF – learns breakpoints automatically)</a:t>
          </a:r>
        </a:p>
      </dgm:t>
    </dgm:pt>
    <dgm:pt modelId="{4BCBBF64-0F2D-45BB-B6D1-B5DAEB4D40FE}" type="parTrans" cxnId="{821789F7-EC23-49FE-8E11-5D210F1B21B2}">
      <dgm:prSet/>
      <dgm:spPr/>
      <dgm:t>
        <a:bodyPr/>
        <a:lstStyle/>
        <a:p>
          <a:endParaRPr lang="en-IN" sz="1100"/>
        </a:p>
      </dgm:t>
    </dgm:pt>
    <dgm:pt modelId="{D2A3BBF3-7807-4D04-ABBD-DAC908715365}" type="sibTrans" cxnId="{821789F7-EC23-49FE-8E11-5D210F1B21B2}">
      <dgm:prSet/>
      <dgm:spPr/>
      <dgm:t>
        <a:bodyPr/>
        <a:lstStyle/>
        <a:p>
          <a:endParaRPr lang="en-IN" sz="1100"/>
        </a:p>
      </dgm:t>
    </dgm:pt>
    <dgm:pt modelId="{BC7D7C35-1D85-4535-9CE3-9FA8399C5B32}">
      <dgm:prSet custT="1"/>
      <dgm:spPr/>
      <dgm:t>
        <a:bodyPr/>
        <a:lstStyle/>
        <a:p>
          <a:r>
            <a:rPr lang="en-IN" sz="1100" b="1" dirty="0"/>
            <a:t>Multivariate Models:</a:t>
          </a:r>
          <a:endParaRPr lang="en-IN" sz="1100" dirty="0"/>
        </a:p>
      </dgm:t>
    </dgm:pt>
    <dgm:pt modelId="{094D7C39-00D4-4156-AA9C-753CA38CA351}" type="parTrans" cxnId="{8E6B204E-7145-4EA4-AF0C-9009B89F74E1}">
      <dgm:prSet/>
      <dgm:spPr/>
      <dgm:t>
        <a:bodyPr/>
        <a:lstStyle/>
        <a:p>
          <a:endParaRPr lang="en-IN" sz="1100"/>
        </a:p>
      </dgm:t>
    </dgm:pt>
    <dgm:pt modelId="{B5CA06F0-621C-4A19-9129-A66F07289CAB}" type="sibTrans" cxnId="{8E6B204E-7145-4EA4-AF0C-9009B89F74E1}">
      <dgm:prSet/>
      <dgm:spPr/>
      <dgm:t>
        <a:bodyPr/>
        <a:lstStyle/>
        <a:p>
          <a:endParaRPr lang="en-IN" sz="1100"/>
        </a:p>
      </dgm:t>
    </dgm:pt>
    <dgm:pt modelId="{22198425-F923-47F3-AF74-60348F858A3B}">
      <dgm:prSet custT="1"/>
      <dgm:spPr/>
      <dgm:t>
        <a:bodyPr/>
        <a:lstStyle/>
        <a:p>
          <a:r>
            <a:rPr lang="en-IN" sz="1100" dirty="0"/>
            <a:t>Linear Regression (all features)</a:t>
          </a:r>
        </a:p>
      </dgm:t>
    </dgm:pt>
    <dgm:pt modelId="{459F3EB6-DADE-4F41-B5BD-F87A0021F87C}" type="parTrans" cxnId="{017237A5-AD43-4552-8508-0FAC8C842D95}">
      <dgm:prSet/>
      <dgm:spPr/>
      <dgm:t>
        <a:bodyPr/>
        <a:lstStyle/>
        <a:p>
          <a:endParaRPr lang="en-IN" sz="1100"/>
        </a:p>
      </dgm:t>
    </dgm:pt>
    <dgm:pt modelId="{AB2B6175-A63F-4AB5-ADC6-F2A43E184177}" type="sibTrans" cxnId="{017237A5-AD43-4552-8508-0FAC8C842D95}">
      <dgm:prSet/>
      <dgm:spPr/>
      <dgm:t>
        <a:bodyPr/>
        <a:lstStyle/>
        <a:p>
          <a:endParaRPr lang="en-IN" sz="1100"/>
        </a:p>
      </dgm:t>
    </dgm:pt>
    <dgm:pt modelId="{5E91E7B6-C142-48A7-8844-465470219855}">
      <dgm:prSet custT="1"/>
      <dgm:spPr/>
      <dgm:t>
        <a:bodyPr/>
        <a:lstStyle/>
        <a:p>
          <a:r>
            <a:rPr lang="en-IN" sz="1100" dirty="0"/>
            <a:t>Polynomial Regression (</a:t>
          </a:r>
          <a:r>
            <a:rPr lang="en-IN" sz="1100" dirty="0" err="1"/>
            <a:t>deg</a:t>
          </a:r>
          <a:r>
            <a:rPr lang="en-IN" sz="1100" dirty="0"/>
            <a:t>=2)</a:t>
          </a:r>
        </a:p>
      </dgm:t>
    </dgm:pt>
    <dgm:pt modelId="{D7E73A9B-5EAD-49F6-A609-01B1E398521E}" type="parTrans" cxnId="{89FB7B92-A0D2-402E-B1A6-2CB29FCC5825}">
      <dgm:prSet/>
      <dgm:spPr/>
      <dgm:t>
        <a:bodyPr/>
        <a:lstStyle/>
        <a:p>
          <a:endParaRPr lang="en-IN" sz="1100"/>
        </a:p>
      </dgm:t>
    </dgm:pt>
    <dgm:pt modelId="{C75E8FE7-5B0B-4087-A6AD-6C4595E3BFAF}" type="sibTrans" cxnId="{89FB7B92-A0D2-402E-B1A6-2CB29FCC5825}">
      <dgm:prSet/>
      <dgm:spPr/>
      <dgm:t>
        <a:bodyPr/>
        <a:lstStyle/>
        <a:p>
          <a:endParaRPr lang="en-IN" sz="1100"/>
        </a:p>
      </dgm:t>
    </dgm:pt>
    <dgm:pt modelId="{54D92FBD-354C-49A0-96A6-540739EB331F}">
      <dgm:prSet custT="1"/>
      <dgm:spPr/>
      <dgm:t>
        <a:bodyPr/>
        <a:lstStyle/>
        <a:p>
          <a:r>
            <a:rPr lang="en-IN" sz="1100" dirty="0"/>
            <a:t>Random Forest Regressor</a:t>
          </a:r>
        </a:p>
      </dgm:t>
    </dgm:pt>
    <dgm:pt modelId="{CFE81808-F67E-404C-8E57-1234F35CA0FF}" type="parTrans" cxnId="{445E9293-9CFE-4232-9496-F332E3ECA1FE}">
      <dgm:prSet/>
      <dgm:spPr/>
      <dgm:t>
        <a:bodyPr/>
        <a:lstStyle/>
        <a:p>
          <a:endParaRPr lang="en-IN" sz="1100"/>
        </a:p>
      </dgm:t>
    </dgm:pt>
    <dgm:pt modelId="{50915A76-9DF4-44F9-9AFF-1FE66B83D5CB}" type="sibTrans" cxnId="{445E9293-9CFE-4232-9496-F332E3ECA1FE}">
      <dgm:prSet/>
      <dgm:spPr/>
      <dgm:t>
        <a:bodyPr/>
        <a:lstStyle/>
        <a:p>
          <a:endParaRPr lang="en-IN" sz="1100"/>
        </a:p>
      </dgm:t>
    </dgm:pt>
    <dgm:pt modelId="{138AADF4-18D1-432F-9129-3869CF74E48B}">
      <dgm:prSet custT="1"/>
      <dgm:spPr/>
      <dgm:t>
        <a:bodyPr/>
        <a:lstStyle/>
        <a:p>
          <a:r>
            <a:rPr lang="en-IN" sz="1100"/>
            <a:t>Piece Wise Linear Regression (Custom Multivariate)</a:t>
          </a:r>
          <a:endParaRPr lang="en-IN" sz="1100" dirty="0"/>
        </a:p>
      </dgm:t>
    </dgm:pt>
    <dgm:pt modelId="{7EDFA321-76ED-4C1B-8ACC-1720281808D9}" type="parTrans" cxnId="{E1CDDC4D-F635-45EB-9EB5-017C3F96D463}">
      <dgm:prSet/>
      <dgm:spPr/>
      <dgm:t>
        <a:bodyPr/>
        <a:lstStyle/>
        <a:p>
          <a:endParaRPr lang="en-IN"/>
        </a:p>
      </dgm:t>
    </dgm:pt>
    <dgm:pt modelId="{9F148A54-7CC1-4006-8867-72ECB843412B}" type="sibTrans" cxnId="{E1CDDC4D-F635-45EB-9EB5-017C3F96D463}">
      <dgm:prSet/>
      <dgm:spPr/>
      <dgm:t>
        <a:bodyPr/>
        <a:lstStyle/>
        <a:p>
          <a:endParaRPr lang="en-IN"/>
        </a:p>
      </dgm:t>
    </dgm:pt>
    <dgm:pt modelId="{3EF754B4-3E02-4BFF-A29A-279382F36AD3}" type="pres">
      <dgm:prSet presAssocID="{CD3992FA-8155-49AA-B48A-E17B0F0AA46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AF5474-18FA-49BC-9FBD-0FAD58E3A98A}" type="pres">
      <dgm:prSet presAssocID="{1853B79C-9BBD-4E29-9107-11C80C95E9B5}" presName="root" presStyleCnt="0"/>
      <dgm:spPr/>
    </dgm:pt>
    <dgm:pt modelId="{0FADD62A-62B6-4702-99F9-B3A052631694}" type="pres">
      <dgm:prSet presAssocID="{1853B79C-9BBD-4E29-9107-11C80C95E9B5}" presName="rootComposite" presStyleCnt="0"/>
      <dgm:spPr/>
    </dgm:pt>
    <dgm:pt modelId="{E2EF75C7-8BD1-4A59-A2BA-047E4944F2E8}" type="pres">
      <dgm:prSet presAssocID="{1853B79C-9BBD-4E29-9107-11C80C95E9B5}" presName="rootText" presStyleLbl="node1" presStyleIdx="0" presStyleCnt="2"/>
      <dgm:spPr/>
    </dgm:pt>
    <dgm:pt modelId="{631E0D3E-9553-492C-AB61-AEB028F4ED93}" type="pres">
      <dgm:prSet presAssocID="{1853B79C-9BBD-4E29-9107-11C80C95E9B5}" presName="rootConnector" presStyleLbl="node1" presStyleIdx="0" presStyleCnt="2"/>
      <dgm:spPr/>
    </dgm:pt>
    <dgm:pt modelId="{FA08DBFA-444C-49DB-A0C6-8C17C1E20F99}" type="pres">
      <dgm:prSet presAssocID="{1853B79C-9BBD-4E29-9107-11C80C95E9B5}" presName="childShape" presStyleCnt="0"/>
      <dgm:spPr/>
    </dgm:pt>
    <dgm:pt modelId="{3B99B432-9B33-4DE4-B106-859702385D91}" type="pres">
      <dgm:prSet presAssocID="{261CB999-9E38-4DA0-8D77-63724A0B76E9}" presName="Name13" presStyleLbl="parChTrans1D2" presStyleIdx="0" presStyleCnt="7"/>
      <dgm:spPr/>
    </dgm:pt>
    <dgm:pt modelId="{D472FEC8-B16E-459B-B42D-BE1DF2212CD1}" type="pres">
      <dgm:prSet presAssocID="{6F597B64-8F06-4CEE-96B8-1E2BE1A4F684}" presName="childText" presStyleLbl="bgAcc1" presStyleIdx="0" presStyleCnt="7" custScaleX="120651">
        <dgm:presLayoutVars>
          <dgm:bulletEnabled val="1"/>
        </dgm:presLayoutVars>
      </dgm:prSet>
      <dgm:spPr/>
    </dgm:pt>
    <dgm:pt modelId="{DE51FAA8-0A32-464C-B7C6-056E9D219C26}" type="pres">
      <dgm:prSet presAssocID="{5C806314-1E38-4F7D-B14D-8FDE95874FD8}" presName="Name13" presStyleLbl="parChTrans1D2" presStyleIdx="1" presStyleCnt="7"/>
      <dgm:spPr/>
    </dgm:pt>
    <dgm:pt modelId="{EABB0B10-923C-414C-85FE-C2A7366B5826}" type="pres">
      <dgm:prSet presAssocID="{7D1E0A7E-8E93-480D-9E34-11BFCCE979F0}" presName="childText" presStyleLbl="bgAcc1" presStyleIdx="1" presStyleCnt="7" custScaleX="120651">
        <dgm:presLayoutVars>
          <dgm:bulletEnabled val="1"/>
        </dgm:presLayoutVars>
      </dgm:prSet>
      <dgm:spPr/>
    </dgm:pt>
    <dgm:pt modelId="{6CF653E8-A633-4248-8F44-E810A9686882}" type="pres">
      <dgm:prSet presAssocID="{4BCBBF64-0F2D-45BB-B6D1-B5DAEB4D40FE}" presName="Name13" presStyleLbl="parChTrans1D2" presStyleIdx="2" presStyleCnt="7"/>
      <dgm:spPr/>
    </dgm:pt>
    <dgm:pt modelId="{0055D800-0484-4FE4-9FB2-CCB5B57B79BD}" type="pres">
      <dgm:prSet presAssocID="{09E27635-EF2B-4CDC-8F0A-D4FB9376A890}" presName="childText" presStyleLbl="bgAcc1" presStyleIdx="2" presStyleCnt="7" custScaleX="120651">
        <dgm:presLayoutVars>
          <dgm:bulletEnabled val="1"/>
        </dgm:presLayoutVars>
      </dgm:prSet>
      <dgm:spPr/>
    </dgm:pt>
    <dgm:pt modelId="{7CD458A6-A985-4792-8DE4-43B42679360E}" type="pres">
      <dgm:prSet presAssocID="{BC7D7C35-1D85-4535-9CE3-9FA8399C5B32}" presName="root" presStyleCnt="0"/>
      <dgm:spPr/>
    </dgm:pt>
    <dgm:pt modelId="{66F58E5A-3116-4DAE-AB5A-A8412FD87492}" type="pres">
      <dgm:prSet presAssocID="{BC7D7C35-1D85-4535-9CE3-9FA8399C5B32}" presName="rootComposite" presStyleCnt="0"/>
      <dgm:spPr/>
    </dgm:pt>
    <dgm:pt modelId="{40D896FC-315F-4BA2-86E4-D25593753FF1}" type="pres">
      <dgm:prSet presAssocID="{BC7D7C35-1D85-4535-9CE3-9FA8399C5B32}" presName="rootText" presStyleLbl="node1" presStyleIdx="1" presStyleCnt="2"/>
      <dgm:spPr/>
    </dgm:pt>
    <dgm:pt modelId="{C04AC5FE-A5AE-4F22-81B3-F78B6F25A7FE}" type="pres">
      <dgm:prSet presAssocID="{BC7D7C35-1D85-4535-9CE3-9FA8399C5B32}" presName="rootConnector" presStyleLbl="node1" presStyleIdx="1" presStyleCnt="2"/>
      <dgm:spPr/>
    </dgm:pt>
    <dgm:pt modelId="{2BD83CF5-CFB9-4CB7-BF73-D90A7907D932}" type="pres">
      <dgm:prSet presAssocID="{BC7D7C35-1D85-4535-9CE3-9FA8399C5B32}" presName="childShape" presStyleCnt="0"/>
      <dgm:spPr/>
    </dgm:pt>
    <dgm:pt modelId="{15C42334-8055-4ADE-AF43-BFB724A3BB4C}" type="pres">
      <dgm:prSet presAssocID="{459F3EB6-DADE-4F41-B5BD-F87A0021F87C}" presName="Name13" presStyleLbl="parChTrans1D2" presStyleIdx="3" presStyleCnt="7"/>
      <dgm:spPr/>
    </dgm:pt>
    <dgm:pt modelId="{D26BC969-C5DC-42BF-93BE-24D54AC8603F}" type="pres">
      <dgm:prSet presAssocID="{22198425-F923-47F3-AF74-60348F858A3B}" presName="childText" presStyleLbl="bgAcc1" presStyleIdx="3" presStyleCnt="7" custScaleX="135743">
        <dgm:presLayoutVars>
          <dgm:bulletEnabled val="1"/>
        </dgm:presLayoutVars>
      </dgm:prSet>
      <dgm:spPr/>
    </dgm:pt>
    <dgm:pt modelId="{F4698518-DEAE-4157-9D8A-E090D9F27E68}" type="pres">
      <dgm:prSet presAssocID="{D7E73A9B-5EAD-49F6-A609-01B1E398521E}" presName="Name13" presStyleLbl="parChTrans1D2" presStyleIdx="4" presStyleCnt="7"/>
      <dgm:spPr/>
    </dgm:pt>
    <dgm:pt modelId="{5F062D92-B463-447D-8C12-58A35D8C4B4A}" type="pres">
      <dgm:prSet presAssocID="{5E91E7B6-C142-48A7-8844-465470219855}" presName="childText" presStyleLbl="bgAcc1" presStyleIdx="4" presStyleCnt="7" custScaleX="135743">
        <dgm:presLayoutVars>
          <dgm:bulletEnabled val="1"/>
        </dgm:presLayoutVars>
      </dgm:prSet>
      <dgm:spPr/>
    </dgm:pt>
    <dgm:pt modelId="{564A45B5-EDDF-465A-8A44-8017BF25AB5D}" type="pres">
      <dgm:prSet presAssocID="{CFE81808-F67E-404C-8E57-1234F35CA0FF}" presName="Name13" presStyleLbl="parChTrans1D2" presStyleIdx="5" presStyleCnt="7"/>
      <dgm:spPr/>
    </dgm:pt>
    <dgm:pt modelId="{FD6C8155-E5E7-4B68-A93D-7558E2FA12DF}" type="pres">
      <dgm:prSet presAssocID="{54D92FBD-354C-49A0-96A6-540739EB331F}" presName="childText" presStyleLbl="bgAcc1" presStyleIdx="5" presStyleCnt="7" custScaleX="135743">
        <dgm:presLayoutVars>
          <dgm:bulletEnabled val="1"/>
        </dgm:presLayoutVars>
      </dgm:prSet>
      <dgm:spPr/>
    </dgm:pt>
    <dgm:pt modelId="{EB6A4ED6-ECFA-406D-95AD-20D01B9DD08C}" type="pres">
      <dgm:prSet presAssocID="{7EDFA321-76ED-4C1B-8ACC-1720281808D9}" presName="Name13" presStyleLbl="parChTrans1D2" presStyleIdx="6" presStyleCnt="7"/>
      <dgm:spPr/>
    </dgm:pt>
    <dgm:pt modelId="{99E2B35E-63E0-4315-B61D-D9B5DEE74560}" type="pres">
      <dgm:prSet presAssocID="{138AADF4-18D1-432F-9129-3869CF74E48B}" presName="childText" presStyleLbl="bgAcc1" presStyleIdx="6" presStyleCnt="7" custScaleX="135140">
        <dgm:presLayoutVars>
          <dgm:bulletEnabled val="1"/>
        </dgm:presLayoutVars>
      </dgm:prSet>
      <dgm:spPr/>
    </dgm:pt>
  </dgm:ptLst>
  <dgm:cxnLst>
    <dgm:cxn modelId="{FB9D7205-947D-4E2C-A4F7-179FE189F6BF}" type="presOf" srcId="{CD3992FA-8155-49AA-B48A-E17B0F0AA464}" destId="{3EF754B4-3E02-4BFF-A29A-279382F36AD3}" srcOrd="0" destOrd="0" presId="urn:microsoft.com/office/officeart/2005/8/layout/hierarchy3"/>
    <dgm:cxn modelId="{58ABF411-EB2B-47AC-BD7F-EC6D10D2A2D7}" type="presOf" srcId="{D7E73A9B-5EAD-49F6-A609-01B1E398521E}" destId="{F4698518-DEAE-4157-9D8A-E090D9F27E68}" srcOrd="0" destOrd="0" presId="urn:microsoft.com/office/officeart/2005/8/layout/hierarchy3"/>
    <dgm:cxn modelId="{80D7311F-0E0C-415C-982D-F239A6F6FF06}" type="presOf" srcId="{7EDFA321-76ED-4C1B-8ACC-1720281808D9}" destId="{EB6A4ED6-ECFA-406D-95AD-20D01B9DD08C}" srcOrd="0" destOrd="0" presId="urn:microsoft.com/office/officeart/2005/8/layout/hierarchy3"/>
    <dgm:cxn modelId="{80EBDD1F-65C2-4603-92A1-41D981893F09}" type="presOf" srcId="{4BCBBF64-0F2D-45BB-B6D1-B5DAEB4D40FE}" destId="{6CF653E8-A633-4248-8F44-E810A9686882}" srcOrd="0" destOrd="0" presId="urn:microsoft.com/office/officeart/2005/8/layout/hierarchy3"/>
    <dgm:cxn modelId="{18C24524-9BE1-4CA2-AEFD-3C3900D324F2}" type="presOf" srcId="{BC7D7C35-1D85-4535-9CE3-9FA8399C5B32}" destId="{40D896FC-315F-4BA2-86E4-D25593753FF1}" srcOrd="0" destOrd="0" presId="urn:microsoft.com/office/officeart/2005/8/layout/hierarchy3"/>
    <dgm:cxn modelId="{62EB4530-FDA5-46B9-B157-9DF0E0B85220}" type="presOf" srcId="{1853B79C-9BBD-4E29-9107-11C80C95E9B5}" destId="{E2EF75C7-8BD1-4A59-A2BA-047E4944F2E8}" srcOrd="0" destOrd="0" presId="urn:microsoft.com/office/officeart/2005/8/layout/hierarchy3"/>
    <dgm:cxn modelId="{69268A30-F77E-4CDB-854F-2265C5951677}" type="presOf" srcId="{54D92FBD-354C-49A0-96A6-540739EB331F}" destId="{FD6C8155-E5E7-4B68-A93D-7558E2FA12DF}" srcOrd="0" destOrd="0" presId="urn:microsoft.com/office/officeart/2005/8/layout/hierarchy3"/>
    <dgm:cxn modelId="{9813C05D-9FC1-43F6-8F33-E4CAA546BB19}" srcId="{1853B79C-9BBD-4E29-9107-11C80C95E9B5}" destId="{6F597B64-8F06-4CEE-96B8-1E2BE1A4F684}" srcOrd="0" destOrd="0" parTransId="{261CB999-9E38-4DA0-8D77-63724A0B76E9}" sibTransId="{19B9997F-B51E-4A5E-BAAF-847645031DD6}"/>
    <dgm:cxn modelId="{731E354A-449B-40FF-A118-C175C97FA783}" type="presOf" srcId="{261CB999-9E38-4DA0-8D77-63724A0B76E9}" destId="{3B99B432-9B33-4DE4-B106-859702385D91}" srcOrd="0" destOrd="0" presId="urn:microsoft.com/office/officeart/2005/8/layout/hierarchy3"/>
    <dgm:cxn modelId="{226D276B-6078-42F0-B8EC-A662D2BC778D}" type="presOf" srcId="{7D1E0A7E-8E93-480D-9E34-11BFCCE979F0}" destId="{EABB0B10-923C-414C-85FE-C2A7366B5826}" srcOrd="0" destOrd="0" presId="urn:microsoft.com/office/officeart/2005/8/layout/hierarchy3"/>
    <dgm:cxn modelId="{E1CDDC4D-F635-45EB-9EB5-017C3F96D463}" srcId="{BC7D7C35-1D85-4535-9CE3-9FA8399C5B32}" destId="{138AADF4-18D1-432F-9129-3869CF74E48B}" srcOrd="3" destOrd="0" parTransId="{7EDFA321-76ED-4C1B-8ACC-1720281808D9}" sibTransId="{9F148A54-7CC1-4006-8867-72ECB843412B}"/>
    <dgm:cxn modelId="{8E6B204E-7145-4EA4-AF0C-9009B89F74E1}" srcId="{CD3992FA-8155-49AA-B48A-E17B0F0AA464}" destId="{BC7D7C35-1D85-4535-9CE3-9FA8399C5B32}" srcOrd="1" destOrd="0" parTransId="{094D7C39-00D4-4156-AA9C-753CA38CA351}" sibTransId="{B5CA06F0-621C-4A19-9129-A66F07289CAB}"/>
    <dgm:cxn modelId="{89FB7B92-A0D2-402E-B1A6-2CB29FCC5825}" srcId="{BC7D7C35-1D85-4535-9CE3-9FA8399C5B32}" destId="{5E91E7B6-C142-48A7-8844-465470219855}" srcOrd="1" destOrd="0" parTransId="{D7E73A9B-5EAD-49F6-A609-01B1E398521E}" sibTransId="{C75E8FE7-5B0B-4087-A6AD-6C4595E3BFAF}"/>
    <dgm:cxn modelId="{445E9293-9CFE-4232-9496-F332E3ECA1FE}" srcId="{BC7D7C35-1D85-4535-9CE3-9FA8399C5B32}" destId="{54D92FBD-354C-49A0-96A6-540739EB331F}" srcOrd="2" destOrd="0" parTransId="{CFE81808-F67E-404C-8E57-1234F35CA0FF}" sibTransId="{50915A76-9DF4-44F9-9AFF-1FE66B83D5CB}"/>
    <dgm:cxn modelId="{017237A5-AD43-4552-8508-0FAC8C842D95}" srcId="{BC7D7C35-1D85-4535-9CE3-9FA8399C5B32}" destId="{22198425-F923-47F3-AF74-60348F858A3B}" srcOrd="0" destOrd="0" parTransId="{459F3EB6-DADE-4F41-B5BD-F87A0021F87C}" sibTransId="{AB2B6175-A63F-4AB5-ADC6-F2A43E184177}"/>
    <dgm:cxn modelId="{694DC8A5-B53E-4BC0-8B9D-FEF0ACA11B8A}" type="presOf" srcId="{459F3EB6-DADE-4F41-B5BD-F87A0021F87C}" destId="{15C42334-8055-4ADE-AF43-BFB724A3BB4C}" srcOrd="0" destOrd="0" presId="urn:microsoft.com/office/officeart/2005/8/layout/hierarchy3"/>
    <dgm:cxn modelId="{AA6A6EB0-206D-4589-9E62-71FB50C5C0FF}" type="presOf" srcId="{5E91E7B6-C142-48A7-8844-465470219855}" destId="{5F062D92-B463-447D-8C12-58A35D8C4B4A}" srcOrd="0" destOrd="0" presId="urn:microsoft.com/office/officeart/2005/8/layout/hierarchy3"/>
    <dgm:cxn modelId="{BCAE09B1-0B51-44EA-A795-A4C5CA71C6C8}" type="presOf" srcId="{6F597B64-8F06-4CEE-96B8-1E2BE1A4F684}" destId="{D472FEC8-B16E-459B-B42D-BE1DF2212CD1}" srcOrd="0" destOrd="0" presId="urn:microsoft.com/office/officeart/2005/8/layout/hierarchy3"/>
    <dgm:cxn modelId="{BC680EBB-530C-4E62-99F4-6A12DAF4BA4C}" srcId="{CD3992FA-8155-49AA-B48A-E17B0F0AA464}" destId="{1853B79C-9BBD-4E29-9107-11C80C95E9B5}" srcOrd="0" destOrd="0" parTransId="{328A7648-F1C3-4168-817A-068B135D8568}" sibTransId="{9974B7B8-597A-4210-8DC6-C6980FCDDDEB}"/>
    <dgm:cxn modelId="{E0C3AABC-BBC4-4C8C-B0CE-4B11C244DC84}" type="presOf" srcId="{138AADF4-18D1-432F-9129-3869CF74E48B}" destId="{99E2B35E-63E0-4315-B61D-D9B5DEE74560}" srcOrd="0" destOrd="0" presId="urn:microsoft.com/office/officeart/2005/8/layout/hierarchy3"/>
    <dgm:cxn modelId="{723C52C5-726A-459D-A8A9-8ABA285D8AB2}" srcId="{1853B79C-9BBD-4E29-9107-11C80C95E9B5}" destId="{7D1E0A7E-8E93-480D-9E34-11BFCCE979F0}" srcOrd="1" destOrd="0" parTransId="{5C806314-1E38-4F7D-B14D-8FDE95874FD8}" sibTransId="{41FCDD58-59E8-4F18-B6A4-A8E69585245B}"/>
    <dgm:cxn modelId="{C817A0D2-BAC7-40D6-B27B-8B0BE62F95A9}" type="presOf" srcId="{5C806314-1E38-4F7D-B14D-8FDE95874FD8}" destId="{DE51FAA8-0A32-464C-B7C6-056E9D219C26}" srcOrd="0" destOrd="0" presId="urn:microsoft.com/office/officeart/2005/8/layout/hierarchy3"/>
    <dgm:cxn modelId="{402F0AD4-783D-4011-99D8-AC69B244206A}" type="presOf" srcId="{1853B79C-9BBD-4E29-9107-11C80C95E9B5}" destId="{631E0D3E-9553-492C-AB61-AEB028F4ED93}" srcOrd="1" destOrd="0" presId="urn:microsoft.com/office/officeart/2005/8/layout/hierarchy3"/>
    <dgm:cxn modelId="{59CA3ED5-5148-4555-8BCF-56CCC615B94A}" type="presOf" srcId="{09E27635-EF2B-4CDC-8F0A-D4FB9376A890}" destId="{0055D800-0484-4FE4-9FB2-CCB5B57B79BD}" srcOrd="0" destOrd="0" presId="urn:microsoft.com/office/officeart/2005/8/layout/hierarchy3"/>
    <dgm:cxn modelId="{F65666DD-4EBE-441C-AF2D-A6FF5AF34276}" type="presOf" srcId="{CFE81808-F67E-404C-8E57-1234F35CA0FF}" destId="{564A45B5-EDDF-465A-8A44-8017BF25AB5D}" srcOrd="0" destOrd="0" presId="urn:microsoft.com/office/officeart/2005/8/layout/hierarchy3"/>
    <dgm:cxn modelId="{AE633FDE-3208-422A-ADA5-F521A48AB8FF}" type="presOf" srcId="{22198425-F923-47F3-AF74-60348F858A3B}" destId="{D26BC969-C5DC-42BF-93BE-24D54AC8603F}" srcOrd="0" destOrd="0" presId="urn:microsoft.com/office/officeart/2005/8/layout/hierarchy3"/>
    <dgm:cxn modelId="{7B03C9F2-7838-4ADF-AF0B-520D496ED07B}" type="presOf" srcId="{BC7D7C35-1D85-4535-9CE3-9FA8399C5B32}" destId="{C04AC5FE-A5AE-4F22-81B3-F78B6F25A7FE}" srcOrd="1" destOrd="0" presId="urn:microsoft.com/office/officeart/2005/8/layout/hierarchy3"/>
    <dgm:cxn modelId="{821789F7-EC23-49FE-8E11-5D210F1B21B2}" srcId="{1853B79C-9BBD-4E29-9107-11C80C95E9B5}" destId="{09E27635-EF2B-4CDC-8F0A-D4FB9376A890}" srcOrd="2" destOrd="0" parTransId="{4BCBBF64-0F2D-45BB-B6D1-B5DAEB4D40FE}" sibTransId="{D2A3BBF3-7807-4D04-ABBD-DAC908715365}"/>
    <dgm:cxn modelId="{371B8287-2C1F-4CB9-B108-BA5A46CC5C76}" type="presParOf" srcId="{3EF754B4-3E02-4BFF-A29A-279382F36AD3}" destId="{3FAF5474-18FA-49BC-9FBD-0FAD58E3A98A}" srcOrd="0" destOrd="0" presId="urn:microsoft.com/office/officeart/2005/8/layout/hierarchy3"/>
    <dgm:cxn modelId="{0C40D97C-1FDE-44E7-BC3F-3F9B2664DEC3}" type="presParOf" srcId="{3FAF5474-18FA-49BC-9FBD-0FAD58E3A98A}" destId="{0FADD62A-62B6-4702-99F9-B3A052631694}" srcOrd="0" destOrd="0" presId="urn:microsoft.com/office/officeart/2005/8/layout/hierarchy3"/>
    <dgm:cxn modelId="{8A484711-1267-4B88-B9DC-798E3AFC7DD4}" type="presParOf" srcId="{0FADD62A-62B6-4702-99F9-B3A052631694}" destId="{E2EF75C7-8BD1-4A59-A2BA-047E4944F2E8}" srcOrd="0" destOrd="0" presId="urn:microsoft.com/office/officeart/2005/8/layout/hierarchy3"/>
    <dgm:cxn modelId="{BFE3E592-12AF-4D02-BCF3-1668485A2FE1}" type="presParOf" srcId="{0FADD62A-62B6-4702-99F9-B3A052631694}" destId="{631E0D3E-9553-492C-AB61-AEB028F4ED93}" srcOrd="1" destOrd="0" presId="urn:microsoft.com/office/officeart/2005/8/layout/hierarchy3"/>
    <dgm:cxn modelId="{8B674686-BF73-48A4-B097-B55D9C607BA6}" type="presParOf" srcId="{3FAF5474-18FA-49BC-9FBD-0FAD58E3A98A}" destId="{FA08DBFA-444C-49DB-A0C6-8C17C1E20F99}" srcOrd="1" destOrd="0" presId="urn:microsoft.com/office/officeart/2005/8/layout/hierarchy3"/>
    <dgm:cxn modelId="{1E9343E6-34CF-4D91-96FB-2017194AAC50}" type="presParOf" srcId="{FA08DBFA-444C-49DB-A0C6-8C17C1E20F99}" destId="{3B99B432-9B33-4DE4-B106-859702385D91}" srcOrd="0" destOrd="0" presId="urn:microsoft.com/office/officeart/2005/8/layout/hierarchy3"/>
    <dgm:cxn modelId="{3F3E234F-4633-4C4A-8866-3EE18BED8568}" type="presParOf" srcId="{FA08DBFA-444C-49DB-A0C6-8C17C1E20F99}" destId="{D472FEC8-B16E-459B-B42D-BE1DF2212CD1}" srcOrd="1" destOrd="0" presId="urn:microsoft.com/office/officeart/2005/8/layout/hierarchy3"/>
    <dgm:cxn modelId="{0B55762D-2F3C-4AA7-8794-9F5107BD3078}" type="presParOf" srcId="{FA08DBFA-444C-49DB-A0C6-8C17C1E20F99}" destId="{DE51FAA8-0A32-464C-B7C6-056E9D219C26}" srcOrd="2" destOrd="0" presId="urn:microsoft.com/office/officeart/2005/8/layout/hierarchy3"/>
    <dgm:cxn modelId="{30156C56-F8A0-4243-A00E-36FA65E0DB9D}" type="presParOf" srcId="{FA08DBFA-444C-49DB-A0C6-8C17C1E20F99}" destId="{EABB0B10-923C-414C-85FE-C2A7366B5826}" srcOrd="3" destOrd="0" presId="urn:microsoft.com/office/officeart/2005/8/layout/hierarchy3"/>
    <dgm:cxn modelId="{DCDD9D90-6B56-49E7-88DE-321578C68727}" type="presParOf" srcId="{FA08DBFA-444C-49DB-A0C6-8C17C1E20F99}" destId="{6CF653E8-A633-4248-8F44-E810A9686882}" srcOrd="4" destOrd="0" presId="urn:microsoft.com/office/officeart/2005/8/layout/hierarchy3"/>
    <dgm:cxn modelId="{A00B3AF3-2300-48E3-B9AB-1A851165A436}" type="presParOf" srcId="{FA08DBFA-444C-49DB-A0C6-8C17C1E20F99}" destId="{0055D800-0484-4FE4-9FB2-CCB5B57B79BD}" srcOrd="5" destOrd="0" presId="urn:microsoft.com/office/officeart/2005/8/layout/hierarchy3"/>
    <dgm:cxn modelId="{FA9BB390-B175-4363-883D-84F5DC254D9C}" type="presParOf" srcId="{3EF754B4-3E02-4BFF-A29A-279382F36AD3}" destId="{7CD458A6-A985-4792-8DE4-43B42679360E}" srcOrd="1" destOrd="0" presId="urn:microsoft.com/office/officeart/2005/8/layout/hierarchy3"/>
    <dgm:cxn modelId="{E7D67BA8-B54A-4271-8790-AB9C47390EA0}" type="presParOf" srcId="{7CD458A6-A985-4792-8DE4-43B42679360E}" destId="{66F58E5A-3116-4DAE-AB5A-A8412FD87492}" srcOrd="0" destOrd="0" presId="urn:microsoft.com/office/officeart/2005/8/layout/hierarchy3"/>
    <dgm:cxn modelId="{11B84116-2C16-4F5F-9352-E421B8CEC871}" type="presParOf" srcId="{66F58E5A-3116-4DAE-AB5A-A8412FD87492}" destId="{40D896FC-315F-4BA2-86E4-D25593753FF1}" srcOrd="0" destOrd="0" presId="urn:microsoft.com/office/officeart/2005/8/layout/hierarchy3"/>
    <dgm:cxn modelId="{D4D08BC5-ECA7-4776-AD04-E23481D4E753}" type="presParOf" srcId="{66F58E5A-3116-4DAE-AB5A-A8412FD87492}" destId="{C04AC5FE-A5AE-4F22-81B3-F78B6F25A7FE}" srcOrd="1" destOrd="0" presId="urn:microsoft.com/office/officeart/2005/8/layout/hierarchy3"/>
    <dgm:cxn modelId="{52560D66-EE00-45FE-91FA-31C191B80BC3}" type="presParOf" srcId="{7CD458A6-A985-4792-8DE4-43B42679360E}" destId="{2BD83CF5-CFB9-4CB7-BF73-D90A7907D932}" srcOrd="1" destOrd="0" presId="urn:microsoft.com/office/officeart/2005/8/layout/hierarchy3"/>
    <dgm:cxn modelId="{17260D08-8236-492C-9C4A-C8B30C7D4386}" type="presParOf" srcId="{2BD83CF5-CFB9-4CB7-BF73-D90A7907D932}" destId="{15C42334-8055-4ADE-AF43-BFB724A3BB4C}" srcOrd="0" destOrd="0" presId="urn:microsoft.com/office/officeart/2005/8/layout/hierarchy3"/>
    <dgm:cxn modelId="{808A581C-73A1-44A5-8BEC-2AAED8BC7111}" type="presParOf" srcId="{2BD83CF5-CFB9-4CB7-BF73-D90A7907D932}" destId="{D26BC969-C5DC-42BF-93BE-24D54AC8603F}" srcOrd="1" destOrd="0" presId="urn:microsoft.com/office/officeart/2005/8/layout/hierarchy3"/>
    <dgm:cxn modelId="{A290AFDE-C1B6-4EF4-AD48-578AF9AC291A}" type="presParOf" srcId="{2BD83CF5-CFB9-4CB7-BF73-D90A7907D932}" destId="{F4698518-DEAE-4157-9D8A-E090D9F27E68}" srcOrd="2" destOrd="0" presId="urn:microsoft.com/office/officeart/2005/8/layout/hierarchy3"/>
    <dgm:cxn modelId="{64D5CE9F-DA5E-4B37-A24E-20C05D0E3006}" type="presParOf" srcId="{2BD83CF5-CFB9-4CB7-BF73-D90A7907D932}" destId="{5F062D92-B463-447D-8C12-58A35D8C4B4A}" srcOrd="3" destOrd="0" presId="urn:microsoft.com/office/officeart/2005/8/layout/hierarchy3"/>
    <dgm:cxn modelId="{7F8B14D8-CA5F-45E1-8411-07751203029E}" type="presParOf" srcId="{2BD83CF5-CFB9-4CB7-BF73-D90A7907D932}" destId="{564A45B5-EDDF-465A-8A44-8017BF25AB5D}" srcOrd="4" destOrd="0" presId="urn:microsoft.com/office/officeart/2005/8/layout/hierarchy3"/>
    <dgm:cxn modelId="{CF8634AB-1D9E-4A23-9FF3-5E02B2EC2A7E}" type="presParOf" srcId="{2BD83CF5-CFB9-4CB7-BF73-D90A7907D932}" destId="{FD6C8155-E5E7-4B68-A93D-7558E2FA12DF}" srcOrd="5" destOrd="0" presId="urn:microsoft.com/office/officeart/2005/8/layout/hierarchy3"/>
    <dgm:cxn modelId="{D77B9F70-A824-42D3-AE8A-42FFDE4CA60D}" type="presParOf" srcId="{2BD83CF5-CFB9-4CB7-BF73-D90A7907D932}" destId="{EB6A4ED6-ECFA-406D-95AD-20D01B9DD08C}" srcOrd="6" destOrd="0" presId="urn:microsoft.com/office/officeart/2005/8/layout/hierarchy3"/>
    <dgm:cxn modelId="{9D7140D6-4DE4-4636-8B7F-EC730E44F521}" type="presParOf" srcId="{2BD83CF5-CFB9-4CB7-BF73-D90A7907D932}" destId="{99E2B35E-63E0-4315-B61D-D9B5DEE74560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F75C7-8BD1-4A59-A2BA-047E4944F2E8}">
      <dsp:nvSpPr>
        <dsp:cNvPr id="0" name=""/>
        <dsp:cNvSpPr/>
      </dsp:nvSpPr>
      <dsp:spPr>
        <a:xfrm>
          <a:off x="1588597" y="2354"/>
          <a:ext cx="1441037" cy="720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Univariate Models:</a:t>
          </a:r>
          <a:endParaRPr lang="en-IN" sz="1100" kern="1200" dirty="0"/>
        </a:p>
      </dsp:txBody>
      <dsp:txXfrm>
        <a:off x="1609700" y="23457"/>
        <a:ext cx="1398831" cy="678312"/>
      </dsp:txXfrm>
    </dsp:sp>
    <dsp:sp modelId="{3B99B432-9B33-4DE4-B106-859702385D91}">
      <dsp:nvSpPr>
        <dsp:cNvPr id="0" name=""/>
        <dsp:cNvSpPr/>
      </dsp:nvSpPr>
      <dsp:spPr>
        <a:xfrm>
          <a:off x="1732700" y="722873"/>
          <a:ext cx="144103" cy="540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388"/>
              </a:lnTo>
              <a:lnTo>
                <a:pt x="144103" y="540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2FEC8-B16E-459B-B42D-BE1DF2212CD1}">
      <dsp:nvSpPr>
        <dsp:cNvPr id="0" name=""/>
        <dsp:cNvSpPr/>
      </dsp:nvSpPr>
      <dsp:spPr>
        <a:xfrm>
          <a:off x="1876804" y="903002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Linear Regression</a:t>
          </a:r>
        </a:p>
      </dsp:txBody>
      <dsp:txXfrm>
        <a:off x="1897907" y="924105"/>
        <a:ext cx="1348694" cy="678312"/>
      </dsp:txXfrm>
    </dsp:sp>
    <dsp:sp modelId="{DE51FAA8-0A32-464C-B7C6-056E9D219C26}">
      <dsp:nvSpPr>
        <dsp:cNvPr id="0" name=""/>
        <dsp:cNvSpPr/>
      </dsp:nvSpPr>
      <dsp:spPr>
        <a:xfrm>
          <a:off x="1732700" y="722873"/>
          <a:ext cx="144103" cy="1441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037"/>
              </a:lnTo>
              <a:lnTo>
                <a:pt x="144103" y="14410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B0B10-923C-414C-85FE-C2A7366B5826}">
      <dsp:nvSpPr>
        <dsp:cNvPr id="0" name=""/>
        <dsp:cNvSpPr/>
      </dsp:nvSpPr>
      <dsp:spPr>
        <a:xfrm>
          <a:off x="1876804" y="1803651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Polynomial Regression (</a:t>
          </a:r>
          <a:r>
            <a:rPr lang="en-IN" sz="1100" kern="1200" dirty="0" err="1"/>
            <a:t>deg</a:t>
          </a:r>
          <a:r>
            <a:rPr lang="en-IN" sz="1100" kern="1200" dirty="0"/>
            <a:t>=2)</a:t>
          </a:r>
        </a:p>
      </dsp:txBody>
      <dsp:txXfrm>
        <a:off x="1897907" y="1824754"/>
        <a:ext cx="1348694" cy="678312"/>
      </dsp:txXfrm>
    </dsp:sp>
    <dsp:sp modelId="{6CF653E8-A633-4248-8F44-E810A9686882}">
      <dsp:nvSpPr>
        <dsp:cNvPr id="0" name=""/>
        <dsp:cNvSpPr/>
      </dsp:nvSpPr>
      <dsp:spPr>
        <a:xfrm>
          <a:off x="1732700" y="722873"/>
          <a:ext cx="144103" cy="2341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1685"/>
              </a:lnTo>
              <a:lnTo>
                <a:pt x="144103" y="23416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5D800-0484-4FE4-9FB2-CCB5B57B79BD}">
      <dsp:nvSpPr>
        <dsp:cNvPr id="0" name=""/>
        <dsp:cNvSpPr/>
      </dsp:nvSpPr>
      <dsp:spPr>
        <a:xfrm>
          <a:off x="1876804" y="2704299"/>
          <a:ext cx="1390900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Piecewise Linear Regression (PWLF – learns breakpoints automatically)</a:t>
          </a:r>
        </a:p>
      </dsp:txBody>
      <dsp:txXfrm>
        <a:off x="1897907" y="2725402"/>
        <a:ext cx="1348694" cy="678312"/>
      </dsp:txXfrm>
    </dsp:sp>
    <dsp:sp modelId="{40D896FC-315F-4BA2-86E4-D25593753FF1}">
      <dsp:nvSpPr>
        <dsp:cNvPr id="0" name=""/>
        <dsp:cNvSpPr/>
      </dsp:nvSpPr>
      <dsp:spPr>
        <a:xfrm>
          <a:off x="3389893" y="2354"/>
          <a:ext cx="1441037" cy="720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Multivariate Models:</a:t>
          </a:r>
          <a:endParaRPr lang="en-IN" sz="1100" kern="1200" dirty="0"/>
        </a:p>
      </dsp:txBody>
      <dsp:txXfrm>
        <a:off x="3410996" y="23457"/>
        <a:ext cx="1398831" cy="678312"/>
      </dsp:txXfrm>
    </dsp:sp>
    <dsp:sp modelId="{15C42334-8055-4ADE-AF43-BFB724A3BB4C}">
      <dsp:nvSpPr>
        <dsp:cNvPr id="0" name=""/>
        <dsp:cNvSpPr/>
      </dsp:nvSpPr>
      <dsp:spPr>
        <a:xfrm>
          <a:off x="3533997" y="722873"/>
          <a:ext cx="144103" cy="540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388"/>
              </a:lnTo>
              <a:lnTo>
                <a:pt x="144103" y="5403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6BC969-C5DC-42BF-93BE-24D54AC8603F}">
      <dsp:nvSpPr>
        <dsp:cNvPr id="0" name=""/>
        <dsp:cNvSpPr/>
      </dsp:nvSpPr>
      <dsp:spPr>
        <a:xfrm>
          <a:off x="3678101" y="903002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Linear Regression (all features)</a:t>
          </a:r>
        </a:p>
      </dsp:txBody>
      <dsp:txXfrm>
        <a:off x="3699204" y="924105"/>
        <a:ext cx="1522679" cy="678312"/>
      </dsp:txXfrm>
    </dsp:sp>
    <dsp:sp modelId="{F4698518-DEAE-4157-9D8A-E090D9F27E68}">
      <dsp:nvSpPr>
        <dsp:cNvPr id="0" name=""/>
        <dsp:cNvSpPr/>
      </dsp:nvSpPr>
      <dsp:spPr>
        <a:xfrm>
          <a:off x="3533997" y="722873"/>
          <a:ext cx="144103" cy="1441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1037"/>
              </a:lnTo>
              <a:lnTo>
                <a:pt x="144103" y="14410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62D92-B463-447D-8C12-58A35D8C4B4A}">
      <dsp:nvSpPr>
        <dsp:cNvPr id="0" name=""/>
        <dsp:cNvSpPr/>
      </dsp:nvSpPr>
      <dsp:spPr>
        <a:xfrm>
          <a:off x="3678101" y="1803651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Polynomial Regression (</a:t>
          </a:r>
          <a:r>
            <a:rPr lang="en-IN" sz="1100" kern="1200" dirty="0" err="1"/>
            <a:t>deg</a:t>
          </a:r>
          <a:r>
            <a:rPr lang="en-IN" sz="1100" kern="1200" dirty="0"/>
            <a:t>=2)</a:t>
          </a:r>
        </a:p>
      </dsp:txBody>
      <dsp:txXfrm>
        <a:off x="3699204" y="1824754"/>
        <a:ext cx="1522679" cy="678312"/>
      </dsp:txXfrm>
    </dsp:sp>
    <dsp:sp modelId="{564A45B5-EDDF-465A-8A44-8017BF25AB5D}">
      <dsp:nvSpPr>
        <dsp:cNvPr id="0" name=""/>
        <dsp:cNvSpPr/>
      </dsp:nvSpPr>
      <dsp:spPr>
        <a:xfrm>
          <a:off x="3533997" y="722873"/>
          <a:ext cx="144103" cy="2341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1685"/>
              </a:lnTo>
              <a:lnTo>
                <a:pt x="144103" y="23416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6C8155-E5E7-4B68-A93D-7558E2FA12DF}">
      <dsp:nvSpPr>
        <dsp:cNvPr id="0" name=""/>
        <dsp:cNvSpPr/>
      </dsp:nvSpPr>
      <dsp:spPr>
        <a:xfrm>
          <a:off x="3678101" y="2704299"/>
          <a:ext cx="1564885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Random Forest Regressor</a:t>
          </a:r>
        </a:p>
      </dsp:txBody>
      <dsp:txXfrm>
        <a:off x="3699204" y="2725402"/>
        <a:ext cx="1522679" cy="678312"/>
      </dsp:txXfrm>
    </dsp:sp>
    <dsp:sp modelId="{EB6A4ED6-ECFA-406D-95AD-20D01B9DD08C}">
      <dsp:nvSpPr>
        <dsp:cNvPr id="0" name=""/>
        <dsp:cNvSpPr/>
      </dsp:nvSpPr>
      <dsp:spPr>
        <a:xfrm>
          <a:off x="3533997" y="722873"/>
          <a:ext cx="144103" cy="3242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42333"/>
              </a:lnTo>
              <a:lnTo>
                <a:pt x="144103" y="3242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2B35E-63E0-4315-B61D-D9B5DEE74560}">
      <dsp:nvSpPr>
        <dsp:cNvPr id="0" name=""/>
        <dsp:cNvSpPr/>
      </dsp:nvSpPr>
      <dsp:spPr>
        <a:xfrm>
          <a:off x="3678101" y="3604947"/>
          <a:ext cx="1557934" cy="7205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Piece Wise Linear Regression (Custom Multivariate)</a:t>
          </a:r>
          <a:endParaRPr lang="en-IN" sz="1100" kern="1200" dirty="0"/>
        </a:p>
      </dsp:txBody>
      <dsp:txXfrm>
        <a:off x="3699204" y="3626050"/>
        <a:ext cx="1515728" cy="678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7CDD7-D713-4C9B-9CAE-614318F0252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C944A-1A82-421E-9873-0E1544DF0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2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AC2C-6D7B-2450-535E-37535B98B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A4036-B984-14A4-E936-C611E384A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087F-EDFF-4D1E-8EE6-1ED3E1A2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5F08D-8CFA-6358-4DDB-D51F5F57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CB3C-23CF-DC98-0C89-CA810BEA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5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3F41-FC14-4DEC-A3DE-57E8B7C5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AC9F-BA15-6BD9-AB11-D5B02F53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2E14-4F6A-F7AB-9A31-2BF24B2E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ECF76-D72A-73AE-532A-8C91297E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B317-4548-C182-4792-E819BE54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5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BA80-522F-0411-1DAB-402651C0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BCD4B-A1ED-D484-B9EF-CAFE24B4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4CFFA-64FF-BDBF-24EB-A737B330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9099-D464-56E7-5792-C5D86654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15EDE-3549-1958-6CF2-B4DCC90A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58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8840-D73C-26D8-55D2-5D63BDA9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6274-3177-572D-ABC4-D270D24D1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2C123-9AA1-3A40-6F69-EC338885A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F7CFA-2359-215B-60BF-637CE64C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C0F45-D11D-89B9-B461-F4BF20AC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C3151-23A7-E521-9B3B-7735253C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0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7B20-F1AD-1BF5-BA3F-09CD0E7E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E73BF-E943-936C-B2B6-C0A56F71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E9C72-F525-D2C3-2FFD-9E129E77F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7292A-BA19-E969-25E2-63902071A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9EED3-AFC1-C012-BB22-07632DE2E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09661-B1FD-C260-C680-826B827B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089C5-7EF8-1CC8-C244-B80F3F24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26195-AB68-EE65-F947-99CFD529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58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82D0-7764-35DD-E915-032A869F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16908-60C4-FB10-97C9-348713A1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3F9D-FB84-C9B0-5015-18E82403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FDE91-BB31-2D4B-2DDA-7EC512D7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7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D7697-B078-8011-CA5E-291A88BF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A43C6-1D74-3729-B4A2-9041F96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8D051-72B3-B72C-0977-3911AD53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6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99C7-6C2B-684C-5AB7-45CBE717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DF5E-C46C-DA07-4D4E-6E31D383C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F526C-841A-5776-E13E-9142DFD91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6916-A115-9ACD-FF42-9790596B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47AFF-007F-CF2A-14FB-0785EEA2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3783B-FF3C-59F6-8C8F-6304AF09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80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7374-9495-F749-5A70-8F293025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0557A-7914-D0DA-15CE-7A45489F1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B08B7-961E-B45E-D5B3-FC5B5D20D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E5A90-71BC-5581-2850-BF08DC65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F6F14-9F41-BB51-360F-1F78D697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1362B-733A-7886-0980-7A106DD86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52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2140-C4F9-50F8-8C41-4E608A81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42EA-D6E8-D655-1068-DACB85A02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E5D6-078E-D87D-8217-5C0D1EC5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B608-3CB4-315B-4258-A29D7037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A3986-812F-59C4-ABE4-F2A18CD8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68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998E9-0DD8-3ABA-9F3A-F6B2DE7B6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99E4C-2BE6-7B7F-C55D-8C2C34D09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F2F01-D994-DC0C-E662-3A671BEF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996D-89D3-D097-2A5C-7352BEDCE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49F66-283A-3F2D-EB3A-CC984C3A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2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20D67-5846-4F1A-B8E2-77120DFD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B13BC-8444-86A6-D215-779BDD03C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BF6B8-D642-BEDA-B25F-51C32AC4E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CCDB5-63EE-4BF3-BE0C-5165BDE0952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2F400-E173-6F2A-8ADD-A1489D8E7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CBD0F-CEBA-B582-822B-5C19FCA4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3B60A-9F37-4FB8-96F4-71762D9C7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22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1AB7-338E-1509-FFCA-615DAD546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321" y="1929539"/>
            <a:ext cx="9699356" cy="1123792"/>
          </a:xfrm>
          <a:effectLst>
            <a:outerShdw blurRad="63500" dist="38100" dir="2700000">
              <a:srgbClr val="B4C6E7">
                <a:alpha val="40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200" b="1" dirty="0">
                <a:ea typeface="+mj-lt"/>
                <a:cs typeface="+mj-lt"/>
              </a:rPr>
              <a:t>Segmented and Nonlinear Approaches to Predicting MPG: PWLR vs. Traditional and Ensemble Regression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1A6E7-8FFF-6034-5996-274CAC09B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9246"/>
            <a:ext cx="9144000" cy="988250"/>
          </a:xfrm>
        </p:spPr>
        <p:txBody>
          <a:bodyPr>
            <a:normAutofit/>
          </a:bodyPr>
          <a:lstStyle/>
          <a:p>
            <a:r>
              <a:rPr lang="en-IN" sz="2000" dirty="0"/>
              <a:t>Course – CS5100 Foundations of AI</a:t>
            </a:r>
          </a:p>
          <a:p>
            <a:r>
              <a:rPr lang="en-IN" sz="2000" dirty="0"/>
              <a:t>Instructor – Prof Mohammad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571337-48D9-A88D-6C8B-3E05C3E4C564}"/>
              </a:ext>
            </a:extLst>
          </p:cNvPr>
          <p:cNvSpPr txBox="1">
            <a:spLocks/>
          </p:cNvSpPr>
          <p:nvPr/>
        </p:nvSpPr>
        <p:spPr>
          <a:xfrm>
            <a:off x="1524000" y="5257800"/>
            <a:ext cx="9144000" cy="988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Authors</a:t>
            </a:r>
          </a:p>
          <a:p>
            <a:r>
              <a:rPr lang="en-IN" sz="1600" dirty="0"/>
              <a:t>Bhalchandra Shinde | Shantanu </a:t>
            </a:r>
            <a:r>
              <a:rPr lang="en-IN" sz="1600" dirty="0" err="1"/>
              <a:t>Wankhare</a:t>
            </a:r>
            <a:r>
              <a:rPr lang="en-IN" sz="1600" dirty="0"/>
              <a:t> | </a:t>
            </a:r>
            <a:r>
              <a:rPr lang="en-IN" sz="1600" dirty="0" err="1"/>
              <a:t>Bartazari</a:t>
            </a:r>
            <a:r>
              <a:rPr lang="en-IN" sz="1600" dirty="0"/>
              <a:t> Dominick</a:t>
            </a:r>
            <a:endParaRPr lang="en-IN" sz="2000" dirty="0"/>
          </a:p>
        </p:txBody>
      </p:sp>
      <p:pic>
        <p:nvPicPr>
          <p:cNvPr id="1026" name="Picture 2" descr="Northeastern University Logo and symbol ...">
            <a:extLst>
              <a:ext uri="{FF2B5EF4-FFF2-40B4-BE49-F238E27FC236}">
                <a16:creationId xmlns:a16="http://schemas.microsoft.com/office/drawing/2014/main" id="{F8786166-D29D-D4DD-3E25-D706A7156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28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606F-CD21-DC53-436F-5CC2BA09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13DB-D335-4522-12A6-A91642EC6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Why analyze MPG?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Fuel efficiency is a key metric in automotive engineering and energy conservation.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Consumers, manufacturers, and policymakers rely on MPG predictions.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Understanding relationships between engine specs and MPG helps improve design and sustainability.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Problem Statement: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MPG is influenced by multiple nonlinear factors (horsepower, weight, displacement, age).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Goal: Build accurate predictive models and compare performance across regression algorithms.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pic>
        <p:nvPicPr>
          <p:cNvPr id="2050" name="Picture 2" descr="Northeastern University Logo and symbol ...">
            <a:extLst>
              <a:ext uri="{FF2B5EF4-FFF2-40B4-BE49-F238E27FC236}">
                <a16:creationId xmlns:a16="http://schemas.microsoft.com/office/drawing/2014/main" id="{73124878-5712-8213-B861-EC90B50E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8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1555-3D91-8B89-CA6F-7B780605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6648-F073-FE8F-E4E4-02A850CC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A7E6-4030-BB90-A29E-DE130BA7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Dataset: Auto MPG (UCI Repository)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398 automobile samples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Target variable: </a:t>
            </a:r>
            <a:r>
              <a:rPr lang="en-IN" sz="1600" b="1" dirty="0"/>
              <a:t>MPG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Key features: horsepower, weight, cylinders, displacement, acceleration, model year, origin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Challenges: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Missing values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Mixed data types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Non-linear relationships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1FABBA3D-8DF0-697E-E866-31B1A632B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35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7A4D-3427-0DE9-7825-FC1546E0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B633-C58B-2AF8-8155-5D81A27B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7A8C-45C6-C58A-BDE7-D20BA605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44"/>
            <a:ext cx="10515600" cy="456761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1. Missing Value Handling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“?” replaced with </a:t>
            </a:r>
            <a:r>
              <a:rPr lang="en-US" sz="1600" dirty="0" err="1"/>
              <a:t>NaN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Median imputation for horsepower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2. Outlier Detection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Boxplots inspected for extreme values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Removed unrealistic MPG and horsepower outliers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3. Type Correction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Converted origin, cylinders, and </a:t>
            </a:r>
            <a:r>
              <a:rPr lang="en-US" sz="1600" dirty="0" err="1"/>
              <a:t>model_year</a:t>
            </a:r>
            <a:r>
              <a:rPr lang="en-US" sz="1600" dirty="0"/>
              <a:t> → category</a:t>
            </a:r>
          </a:p>
          <a:p>
            <a:pPr>
              <a:lnSpc>
                <a:spcPct val="150000"/>
              </a:lnSpc>
            </a:pPr>
            <a:r>
              <a:rPr lang="en-US" sz="1600" i="1" dirty="0"/>
              <a:t>Note: Showing the before/after plots fulfills the requirement.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C7ADF-898A-19E3-C936-BE2935C5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1341506"/>
            <a:ext cx="5577840" cy="4506599"/>
          </a:xfrm>
          <a:prstGeom prst="rect">
            <a:avLst/>
          </a:prstGeom>
        </p:spPr>
      </p:pic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1EF5C285-612F-821F-673B-343B529D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43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510B-49F0-B2E2-DD05-0C66E5B4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D35B-57CD-018D-8D0B-5AA89ADD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8267-2618-47F2-97D7-9AC7A2B5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16680" cy="1777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New Features Created:</a:t>
            </a:r>
          </a:p>
          <a:p>
            <a:r>
              <a:rPr lang="en-US" sz="1600" dirty="0"/>
              <a:t>hp-to-weight ratio → captures engine load</a:t>
            </a:r>
          </a:p>
          <a:p>
            <a:r>
              <a:rPr lang="en-US" sz="1600" dirty="0" err="1"/>
              <a:t>car_age</a:t>
            </a:r>
            <a:r>
              <a:rPr lang="en-US" sz="1600" dirty="0"/>
              <a:t> → (82 – </a:t>
            </a:r>
            <a:r>
              <a:rPr lang="en-US" sz="1600" dirty="0" err="1"/>
              <a:t>model_year</a:t>
            </a:r>
            <a:r>
              <a:rPr lang="en-US" sz="1600" dirty="0"/>
              <a:t>)</a:t>
            </a:r>
          </a:p>
          <a:p>
            <a:r>
              <a:rPr lang="en-US" sz="1600" dirty="0"/>
              <a:t>one-hot encoded origin</a:t>
            </a:r>
          </a:p>
          <a:p>
            <a:r>
              <a:rPr lang="en-US" sz="1600" dirty="0"/>
              <a:t>scaled numeric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E30A2-4D52-9133-8906-A7C803D61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60896"/>
              </p:ext>
            </p:extLst>
          </p:nvPr>
        </p:nvGraphicFramePr>
        <p:xfrm>
          <a:off x="704087" y="3835922"/>
          <a:ext cx="10783825" cy="2343641"/>
        </p:xfrm>
        <a:graphic>
          <a:graphicData uri="http://schemas.openxmlformats.org/drawingml/2006/table">
            <a:tbl>
              <a:tblPr firstRow="1">
                <a:tableStyleId>{BDBED569-4797-4DF1-A0F4-6AAB3CD982D8}</a:tableStyleId>
              </a:tblPr>
              <a:tblGrid>
                <a:gridCol w="530353">
                  <a:extLst>
                    <a:ext uri="{9D8B030D-6E8A-4147-A177-3AD203B41FA5}">
                      <a16:colId xmlns:a16="http://schemas.microsoft.com/office/drawing/2014/main" val="8689613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14076119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559309439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1146452231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3873433373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92425352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845400676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252225770"/>
                    </a:ext>
                  </a:extLst>
                </a:gridCol>
                <a:gridCol w="1384964">
                  <a:extLst>
                    <a:ext uri="{9D8B030D-6E8A-4147-A177-3AD203B41FA5}">
                      <a16:colId xmlns:a16="http://schemas.microsoft.com/office/drawing/2014/main" val="1996818690"/>
                    </a:ext>
                  </a:extLst>
                </a:gridCol>
                <a:gridCol w="946756">
                  <a:extLst>
                    <a:ext uri="{9D8B030D-6E8A-4147-A177-3AD203B41FA5}">
                      <a16:colId xmlns:a16="http://schemas.microsoft.com/office/drawing/2014/main" val="3209742529"/>
                    </a:ext>
                  </a:extLst>
                </a:gridCol>
                <a:gridCol w="712294">
                  <a:extLst>
                    <a:ext uri="{9D8B030D-6E8A-4147-A177-3AD203B41FA5}">
                      <a16:colId xmlns:a16="http://schemas.microsoft.com/office/drawing/2014/main" val="1956112663"/>
                    </a:ext>
                  </a:extLst>
                </a:gridCol>
                <a:gridCol w="829525">
                  <a:extLst>
                    <a:ext uri="{9D8B030D-6E8A-4147-A177-3AD203B41FA5}">
                      <a16:colId xmlns:a16="http://schemas.microsoft.com/office/drawing/2014/main" val="2334955583"/>
                    </a:ext>
                  </a:extLst>
                </a:gridCol>
                <a:gridCol w="829525">
                  <a:extLst>
                    <a:ext uri="{9D8B030D-6E8A-4147-A177-3AD203B41FA5}">
                      <a16:colId xmlns:a16="http://schemas.microsoft.com/office/drawing/2014/main" val="1085330593"/>
                    </a:ext>
                  </a:extLst>
                </a:gridCol>
              </a:tblGrid>
              <a:tr h="327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mpg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cylinders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displacement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horsepower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weight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acceleration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model_year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>
                          <a:effectLst/>
                        </a:rPr>
                        <a:t>name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hp_to_weight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car_age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origin_japan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 dirty="0" err="1">
                          <a:effectLst/>
                        </a:rPr>
                        <a:t>origin_usa</a:t>
                      </a:r>
                      <a:endParaRPr lang="en-IN" sz="1050" b="1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247372963"/>
                  </a:ext>
                </a:extLst>
              </a:tr>
              <a:tr h="57661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18.0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1.090604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0.673118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0.630870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-1.295498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chevrolet chevelle malibu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0.369595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858033874"/>
                  </a:ext>
                </a:extLst>
              </a:tr>
              <a:tr h="3611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15.0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1.503514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1.589958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0.854333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-1.477038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buick skylark 320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1.638144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994012543"/>
                  </a:ext>
                </a:extLst>
              </a:tr>
              <a:tr h="39452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18.0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1.196232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1.197027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0.550470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-1.658577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plymouth satellite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1.466791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41832712"/>
                  </a:ext>
                </a:extLst>
              </a:tr>
              <a:tr h="3273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16.0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1.061796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1.197027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0.546923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-1.295498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amc rebel sst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1.473177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06803189"/>
                  </a:ext>
                </a:extLst>
              </a:tr>
              <a:tr h="3034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b="1">
                          <a:effectLst/>
                        </a:rPr>
                        <a:t>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17.0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1.042591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0.935072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0.565841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-1.840117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70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ford torino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0.953937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1.627426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>
                          <a:effectLst/>
                        </a:rPr>
                        <a:t>False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050" dirty="0">
                          <a:effectLst/>
                        </a:rPr>
                        <a:t>True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48022267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A07344-43B2-1474-FEEE-F2CE5DE3E7AD}"/>
              </a:ext>
            </a:extLst>
          </p:cNvPr>
          <p:cNvSpPr txBox="1">
            <a:spLocks/>
          </p:cNvSpPr>
          <p:nvPr/>
        </p:nvSpPr>
        <p:spPr>
          <a:xfrm>
            <a:off x="6095999" y="1825625"/>
            <a:ext cx="3916680" cy="191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Why these features?</a:t>
            </a:r>
          </a:p>
          <a:p>
            <a:r>
              <a:rPr lang="en-US" sz="1600" dirty="0"/>
              <a:t>Improve model ability to capture trends</a:t>
            </a:r>
          </a:p>
          <a:p>
            <a:r>
              <a:rPr lang="en-US" sz="1600" dirty="0"/>
              <a:t>Reduce noise</a:t>
            </a:r>
          </a:p>
          <a:p>
            <a:r>
              <a:rPr lang="en-US" sz="1600" dirty="0"/>
              <a:t>Make patterns more interpretable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C20C40E2-CDFC-78B4-7585-9D557C406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11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ADBA-DFF8-1184-1EAB-A425690F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1CBB-8586-57BD-869A-1F1A91B7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7827D-6A86-3F6A-0BED-7F081888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What we discovered: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Strong negative correlation between horsepower and MPG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Weight and displacement also strongly influence MPG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mpg has non-linear relationships with multiple features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/>
          </a:p>
          <a:p>
            <a:pPr marL="0" indent="0">
              <a:lnSpc>
                <a:spcPct val="150000"/>
              </a:lnSpc>
              <a:buNone/>
            </a:pPr>
            <a:r>
              <a:rPr lang="en-US" sz="1600"/>
              <a:t>Include </a:t>
            </a:r>
            <a:r>
              <a:rPr lang="en-US" sz="1600" dirty="0"/>
              <a:t>correlation heatmap or bar chart of feature importance.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8231BD5B-EECC-1002-2E27-1965A7676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69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A97D-B881-C97D-36D7-E4C43073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1051-A7C3-B5E9-E2B9-8F152123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9701-0B80-97CC-C2D0-541E51D35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096" y="2075688"/>
            <a:ext cx="4556760" cy="270662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400" b="1" dirty="0"/>
              <a:t>High-Level Pros/Cons:</a:t>
            </a:r>
            <a:endParaRPr lang="en-IN" sz="1400" dirty="0"/>
          </a:p>
          <a:p>
            <a:pPr>
              <a:lnSpc>
                <a:spcPct val="120000"/>
              </a:lnSpc>
            </a:pPr>
            <a:r>
              <a:rPr lang="en-IN" sz="1400" dirty="0"/>
              <a:t>Linear: simple, interpretable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Polynomial: captures smooth curvature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PWLF: learns breakpoints automatically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Random Forest: best for nonlinearity, robust, low error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C7ADED4-4567-7CF3-2368-A7D77FF91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305134"/>
              </p:ext>
            </p:extLst>
          </p:nvPr>
        </p:nvGraphicFramePr>
        <p:xfrm>
          <a:off x="0" y="1926675"/>
          <a:ext cx="6831584" cy="4327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Northeastern University Logo and symbol ...">
            <a:extLst>
              <a:ext uri="{FF2B5EF4-FFF2-40B4-BE49-F238E27FC236}">
                <a16:creationId xmlns:a16="http://schemas.microsoft.com/office/drawing/2014/main" id="{E1564369-A165-B7B5-59F6-15C429B7F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41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C5F0-DA4E-9ADC-7EBD-CF6754C9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ACA6-227E-CAA9-258E-15AFC893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501D8-30E5-928B-2425-419FAE0B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126"/>
            <a:ext cx="4419600" cy="43409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Metrics evaluated:</a:t>
            </a:r>
            <a:endParaRPr lang="en-IN" sz="16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R² and Adjusted R²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RMSE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MAE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Add brief definitions: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RMSE penalizes larger errors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MAE shows average absolute error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R² shows variance explained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24A19FC6-FB51-0032-E6D0-8B9B84C6A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11 Regression Metrics For ML &amp; Practical How To Guide">
            <a:extLst>
              <a:ext uri="{FF2B5EF4-FFF2-40B4-BE49-F238E27FC236}">
                <a16:creationId xmlns:a16="http://schemas.microsoft.com/office/drawing/2014/main" id="{833712A3-EC7E-A17D-DE0B-2576F79D4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388" y="2034646"/>
            <a:ext cx="6519334" cy="367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8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2DA4-1152-20DD-B31A-3A168F85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500A-B6F5-04A2-B57E-E5F84BFB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 Univariate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848F-E2E0-E7E4-C6C4-3FFA2EA59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38632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Key Findings: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Linear Regression performed worst (R² ≈ 0.64)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Polynomial Regression best univariate model (R² ≈ 0.74)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PWLF close behind; better interpretability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B162C-140C-B7F8-D102-E6BE3076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5" y="1600417"/>
            <a:ext cx="7388092" cy="4596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441B41A8-5957-D564-0CF5-278E96A43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98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E363-F8E0-5862-7CB7-5A512922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Multivariate </a:t>
            </a:r>
            <a:r>
              <a:rPr lang="en-IN" dirty="0" err="1"/>
              <a:t>Modeling</a:t>
            </a:r>
            <a:r>
              <a:rPr lang="en-IN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0390-D4C9-D21F-9ED7-4DF991C3A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1" y="1690688"/>
            <a:ext cx="5053585" cy="46735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Why Multivariate?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MPG is influenced by multiple vehicle characteristics, not a single feature.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Correlations showed strong relationships with </a:t>
            </a:r>
            <a:r>
              <a:rPr lang="en-US" sz="1600" i="1" dirty="0"/>
              <a:t>weight</a:t>
            </a:r>
            <a:r>
              <a:rPr lang="en-US" sz="1600" dirty="0"/>
              <a:t>, </a:t>
            </a:r>
            <a:r>
              <a:rPr lang="en-US" sz="1600" i="1" dirty="0"/>
              <a:t>displacement</a:t>
            </a:r>
            <a:r>
              <a:rPr lang="en-US" sz="1600" dirty="0"/>
              <a:t>, </a:t>
            </a:r>
            <a:r>
              <a:rPr lang="en-US" sz="1600" i="1" dirty="0"/>
              <a:t>horsepower</a:t>
            </a:r>
            <a:r>
              <a:rPr lang="en-US" sz="1600" dirty="0"/>
              <a:t>, and </a:t>
            </a:r>
            <a:r>
              <a:rPr lang="en-US" sz="1600" i="1" dirty="0" err="1"/>
              <a:t>model_year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Using multiple predictors improves model accuracy and reduces bias.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Data Preparation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Selected 6 core numeric features + engineered </a:t>
            </a:r>
            <a:r>
              <a:rPr lang="en-US" sz="1600" dirty="0" err="1"/>
              <a:t>hp_to_weight</a:t>
            </a:r>
            <a:r>
              <a:rPr lang="en-US" sz="1600" dirty="0"/>
              <a:t> and </a:t>
            </a:r>
            <a:r>
              <a:rPr lang="en-US" sz="1600" dirty="0" err="1"/>
              <a:t>car_age</a:t>
            </a:r>
            <a:r>
              <a:rPr lang="en-US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One-hot encoded categorical origin_*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Train-test split: 80/20.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Standardized numeric features where needed (for Polynomial &amp; PWLR models).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25CE44-B810-3BE3-1B82-A0E395EF764F}"/>
              </a:ext>
            </a:extLst>
          </p:cNvPr>
          <p:cNvSpPr txBox="1">
            <a:spLocks/>
          </p:cNvSpPr>
          <p:nvPr/>
        </p:nvSpPr>
        <p:spPr>
          <a:xfrm>
            <a:off x="6364224" y="1825625"/>
            <a:ext cx="49895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600" b="1" dirty="0"/>
              <a:t>Models Implemented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Multiple Linear Regression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Assumes a single linear relationship using all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Multivariate Polynomial Regression (Degree 2)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Allows curved/non-linear relationships across features.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Random Forest Regression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Captures complex nonlinear interactions and feature importance.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Custom Multivariate Piecewise Linear Regression (PWLR)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Uses a decision tree to partition feature space.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Fits a linear model inside each region to model non-linear patterns.</a:t>
            </a:r>
          </a:p>
          <a:p>
            <a:pPr>
              <a:lnSpc>
                <a:spcPct val="100000"/>
              </a:lnSpc>
            </a:pPr>
            <a:endParaRPr lang="en-IN" sz="1600" dirty="0"/>
          </a:p>
        </p:txBody>
      </p:sp>
      <p:pic>
        <p:nvPicPr>
          <p:cNvPr id="6" name="Picture 2" descr="Northeastern University Logo and symbol ...">
            <a:extLst>
              <a:ext uri="{FF2B5EF4-FFF2-40B4-BE49-F238E27FC236}">
                <a16:creationId xmlns:a16="http://schemas.microsoft.com/office/drawing/2014/main" id="{8244F21C-3BF4-93ED-D5DC-E133F449C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94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2146-6CAB-932E-76EA-812E1418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795A-326C-8654-ED7F-25751D87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Results: Multivariate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40E3-4B32-7F09-0948-D5796D88B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2018920"/>
            <a:ext cx="348691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Performance Summary: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Linear Regression: </a:t>
            </a:r>
            <a:r>
              <a:rPr lang="en-US" sz="1400" b="1" dirty="0"/>
              <a:t>R² = 0.855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Polynomial Regression (deg 2): </a:t>
            </a:r>
            <a:r>
              <a:rPr lang="en-US" sz="1400" b="1" dirty="0"/>
              <a:t>R² = 0.898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Random Forest: </a:t>
            </a:r>
            <a:r>
              <a:rPr lang="en-US" sz="1400" b="1" dirty="0"/>
              <a:t>R² = 0.923 (Best)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Takeaway:</a:t>
            </a:r>
            <a:br>
              <a:rPr lang="en-US" sz="1400" dirty="0"/>
            </a:br>
            <a:r>
              <a:rPr lang="en-US" sz="1400" dirty="0"/>
              <a:t>Adding multiple features improved performance dramatically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DC4C15-3745-86F3-E9EA-E47240E3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1690688"/>
            <a:ext cx="7645098" cy="4640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2" descr="Northeastern University Logo and symbol ...">
            <a:extLst>
              <a:ext uri="{FF2B5EF4-FFF2-40B4-BE49-F238E27FC236}">
                <a16:creationId xmlns:a16="http://schemas.microsoft.com/office/drawing/2014/main" id="{590B48B0-84A3-A7B1-BD4F-622E4F24F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908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0345-5EDF-2BE3-359B-1C47A3E2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A369-D596-27BD-6EEE-BEA275BE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Comparative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140E-69CD-0E68-2DEB-105AFB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763840"/>
            <a:ext cx="282757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Random Forest outperforms all others: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Lowest RMSE (2.02)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Lowest MAE (1.57)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Highest R² (0.923)</a:t>
            </a: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endParaRPr lang="en-US" sz="1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Multivariate PWLF is the second-best model.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778B22-8C81-B534-B411-B1BC44AC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623" y="1425512"/>
            <a:ext cx="7984796" cy="5167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2" descr="Northeastern University Logo and symbol ...">
            <a:extLst>
              <a:ext uri="{FF2B5EF4-FFF2-40B4-BE49-F238E27FC236}">
                <a16:creationId xmlns:a16="http://schemas.microsoft.com/office/drawing/2014/main" id="{2CDE3FDD-07F7-2C0F-7F54-3E0EBF814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001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17A6-EDE6-5796-8950-5972E5FC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824E3-3A6D-C406-FBBF-3066ED196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5" y="2229691"/>
            <a:ext cx="6505371" cy="4408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706DF-7C8C-E18C-4340-A7A8F1937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" y="1792998"/>
            <a:ext cx="4136136" cy="2239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24B29-E864-A41D-D37E-89353330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3999200"/>
            <a:ext cx="4062984" cy="2803936"/>
          </a:xfrm>
          <a:prstGeom prst="rect">
            <a:avLst/>
          </a:prstGeom>
        </p:spPr>
      </p:pic>
      <p:pic>
        <p:nvPicPr>
          <p:cNvPr id="3" name="Picture 2" descr="Northeastern University Logo and symbol ...">
            <a:extLst>
              <a:ext uri="{FF2B5EF4-FFF2-40B4-BE49-F238E27FC236}">
                <a16:creationId xmlns:a16="http://schemas.microsoft.com/office/drawing/2014/main" id="{EBB9C25A-3897-CA2C-4CD4-3B341762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33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9255-29F6-90A6-7E10-708DACFE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A0C7-4C86-A470-EED7-B34F97E9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C57DA-9AA4-3480-AD66-BA2DFAA0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Work 1:</a:t>
            </a:r>
            <a:r>
              <a:rPr lang="en-IN" sz="1600" dirty="0"/>
              <a:t> Fuel efficiency </a:t>
            </a:r>
            <a:r>
              <a:rPr lang="en-IN" sz="1600" dirty="0" err="1"/>
              <a:t>modeling</a:t>
            </a:r>
            <a:r>
              <a:rPr lang="en-IN" sz="1600" dirty="0"/>
              <a:t> paper (e.g., 2024 regression benchmarking paper).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Used nonlinear models and found tree-based methods outperform linear models.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Our findings align with this trend.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Work 2:</a:t>
            </a:r>
            <a:r>
              <a:rPr lang="en-IN" sz="1600" dirty="0"/>
              <a:t> Breakpoint-based </a:t>
            </a:r>
            <a:r>
              <a:rPr lang="en-IN" sz="1600" dirty="0" err="1"/>
              <a:t>modeling</a:t>
            </a:r>
            <a:r>
              <a:rPr lang="en-IN" sz="1600" dirty="0"/>
              <a:t> (PWLF in energy datasets).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Demonstrated piecewise regression improves interpretability.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Motivated our use of PWLF.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59E0291D-20AC-10E6-5605-ECBF3372C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93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9BBF-697D-C1FB-3EDF-CD440C93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DB0F-87C0-FAD7-E707-DB892D8F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EED2-1426-C8D7-0507-F76CAB84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MPG prediction is highly nonlinear.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Horsepower alone is insufficient for accurate predictions.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Feature engineering (hp-to-weight, </a:t>
            </a:r>
            <a:r>
              <a:rPr lang="en-US" sz="1600" dirty="0" err="1"/>
              <a:t>car_age</a:t>
            </a:r>
            <a:r>
              <a:rPr lang="en-US" sz="1600" dirty="0"/>
              <a:t>) significantly boosted performance.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Random Forest captured the complex interactions best.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Polynomial models are strong interpretable alternatives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Multivariate Piece Wise Linear Regression Model analysis</a:t>
            </a:r>
            <a:endParaRPr lang="en-IN" sz="1600" dirty="0"/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D1297A54-345F-9361-9B5C-C270D3A36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05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EE61-E45D-825B-E042-B5F21C62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3369-70D9-D5C8-89EB-ED257F64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8494-E31E-AC98-6F57-2FB793CCC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Conclusion: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Multivariate nonlinear models give the best predictive performance.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Random Forest is the most robust and accurate model.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Future Work:</a:t>
            </a: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Hyperparameter tuning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Deep learning models (MLP)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Adding more automotive features (torque, gear ratios)</a:t>
            </a:r>
          </a:p>
        </p:txBody>
      </p:sp>
      <p:pic>
        <p:nvPicPr>
          <p:cNvPr id="4" name="Picture 2" descr="Northeastern University Logo and symbol ...">
            <a:extLst>
              <a:ext uri="{FF2B5EF4-FFF2-40B4-BE49-F238E27FC236}">
                <a16:creationId xmlns:a16="http://schemas.microsoft.com/office/drawing/2014/main" id="{2AF73634-AED7-B55B-BDFC-28A196C55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3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3258-50D7-1FFA-DCE4-067675D6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7F2F-B7DF-8126-47E6-E87F2AD3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14" y="2766218"/>
            <a:ext cx="2894372" cy="1325563"/>
          </a:xfrm>
        </p:spPr>
        <p:txBody>
          <a:bodyPr>
            <a:normAutofit/>
          </a:bodyPr>
          <a:lstStyle/>
          <a:p>
            <a:r>
              <a:rPr lang="en-IN" sz="4800" dirty="0"/>
              <a:t>Thank You</a:t>
            </a:r>
          </a:p>
        </p:txBody>
      </p:sp>
      <p:pic>
        <p:nvPicPr>
          <p:cNvPr id="3" name="Picture 2" descr="Northeastern University Logo and symbol ...">
            <a:extLst>
              <a:ext uri="{FF2B5EF4-FFF2-40B4-BE49-F238E27FC236}">
                <a16:creationId xmlns:a16="http://schemas.microsoft.com/office/drawing/2014/main" id="{09659D87-C2D7-39AE-EA7B-BE6B7B13C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0"/>
            <a:ext cx="1583871" cy="88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53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298</TotalTime>
  <Words>938</Words>
  <Application>Microsoft Office PowerPoint</Application>
  <PresentationFormat>Widescreen</PresentationFormat>
  <Paragraphs>221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Segmented and Nonlinear Approaches to Predicting MPG: PWLR vs. Traditional and Ensemble Regression Models</vt:lpstr>
      <vt:lpstr>Motivation </vt:lpstr>
      <vt:lpstr>Dataset Overview</vt:lpstr>
      <vt:lpstr>Data Cleaning Steps</vt:lpstr>
      <vt:lpstr>Feature Engineering</vt:lpstr>
      <vt:lpstr>Exploratory Data Analysis</vt:lpstr>
      <vt:lpstr>Proposed Models</vt:lpstr>
      <vt:lpstr>Model Performance Metrics</vt:lpstr>
      <vt:lpstr>Results: Univariate Models</vt:lpstr>
      <vt:lpstr>Multivariate Modeling Approach</vt:lpstr>
      <vt:lpstr>Results: Multivariate Models</vt:lpstr>
      <vt:lpstr>Final Comparative Dashboard</vt:lpstr>
      <vt:lpstr>Random Forest Observations</vt:lpstr>
      <vt:lpstr>Related Work</vt:lpstr>
      <vt:lpstr>What We Learned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Bhalchandra Shinde</dc:creator>
  <cp:lastModifiedBy>Bhalchandra Shinde</cp:lastModifiedBy>
  <cp:revision>57</cp:revision>
  <dcterms:created xsi:type="dcterms:W3CDTF">2025-11-27T01:03:46Z</dcterms:created>
  <dcterms:modified xsi:type="dcterms:W3CDTF">2025-12-01T00:03:13Z</dcterms:modified>
</cp:coreProperties>
</file>